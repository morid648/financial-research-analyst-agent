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orid64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8288000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EB6C4"/>
                </a:solidFill>
                <a:latin typeface="Courier New"/>
              </a:rPr>
              <a:t>RELIANCE.NS   ·   TCS.NS   ·   AAPL   ·   NVDA   ·   CANBK.NS   ·   INFY.NS   ·   MSFT   ·   HDFCBANK.NS   ·   D/E   ·  RELIANCE.NS   ·   TCS.NS   ·   AAPL   ·   NVDA   ·   CANBK.NS   ·   INFY.NS   ·   MSFT   ·   HDFCBANK.NS   ·   D/E   ·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09728" cy="109728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b="0" i="0">
                <a:solidFill>
                  <a:srgbClr val="1C1C1A"/>
                </a:solidFill>
                <a:latin typeface="Georgia"/>
              </a:rPr>
              <a:t>FinResearch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F5D57"/>
                </a:solidFill>
                <a:latin typeface="Georgia"/>
              </a:rPr>
              <a:t>An equity-research tool that was built, audited, and rebuilt — for correctness, not just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2423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309360" y="1691640"/>
            <a:ext cx="2148840" cy="0"/>
          </a:xfrm>
          <a:prstGeom prst="line">
            <a:avLst/>
          </a:prstGeom>
          <a:ln w="6350">
            <a:solidFill>
              <a:srgbClr val="ECE9E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309360" y="2103120"/>
            <a:ext cx="2148840" cy="0"/>
          </a:xfrm>
          <a:prstGeom prst="line">
            <a:avLst/>
          </a:prstGeom>
          <a:ln w="6350">
            <a:solidFill>
              <a:srgbClr val="ECE9E2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309360" y="2514600"/>
            <a:ext cx="2148840" cy="0"/>
          </a:xfrm>
          <a:prstGeom prst="line">
            <a:avLst/>
          </a:prstGeom>
          <a:ln w="6350">
            <a:solidFill>
              <a:srgbClr val="ECE9E2"/>
            </a:solidFill>
          </a:ln>
        </p:spPr>
      </p:cxnSp>
      <p:sp>
        <p:nvSpPr>
          <p:cNvPr id="11" name="Freeform 10"/>
          <p:cNvSpPr/>
          <p:nvPr/>
        </p:nvSpPr>
        <p:spPr>
          <a:xfrm>
            <a:off x="6309360" y="1737360"/>
            <a:ext cx="1828800" cy="960120"/>
          </a:xfrm>
          <a:custGeom>
            <a:avLst/>
            <a:gdLst/>
            <a:ahLst/>
            <a:cxnLst/>
            <a:rect l="l" t="t" r="r" b="b"/>
            <a:pathLst>
              <a:path w="1828800" h="960120">
                <a:moveTo>
                  <a:pt x="0" y="960120"/>
                </a:moveTo>
                <a:lnTo>
                  <a:pt x="228600" y="804672"/>
                </a:lnTo>
                <a:lnTo>
                  <a:pt x="457200" y="877824"/>
                </a:lnTo>
                <a:lnTo>
                  <a:pt x="685800" y="594360"/>
                </a:lnTo>
                <a:lnTo>
                  <a:pt x="914400" y="658368"/>
                </a:lnTo>
                <a:lnTo>
                  <a:pt x="1143000" y="365760"/>
                </a:lnTo>
                <a:lnTo>
                  <a:pt x="1371600" y="457200"/>
                </a:lnTo>
                <a:lnTo>
                  <a:pt x="1600200" y="109728"/>
                </a:lnTo>
                <a:lnTo>
                  <a:pt x="1828800" y="0"/>
                </a:lnTo>
              </a:path>
            </a:pathLst>
          </a:custGeom>
          <a:noFill/>
          <a:ln w="28575">
            <a:solidFill>
              <a:srgbClr val="2F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74152" y="1673351"/>
            <a:ext cx="128016" cy="128016"/>
          </a:xfrm>
          <a:prstGeom prst="ellipse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6148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F8B82"/>
                </a:solidFill>
                <a:latin typeface="Courier New"/>
              </a:rPr>
              <a:t>FUNDAMENTALS · DCF · RISK · 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1F7A4C"/>
                </a:solidFill>
                <a:latin typeface="Georgia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40">
                <a:solidFill>
                  <a:srgbClr val="5F5D57"/>
                </a:solidFill>
                <a:latin typeface="Arial"/>
              </a:rPr>
              <a:t>defects fixed &amp; verified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3401568"/>
            <a:ext cx="0" cy="667512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743200" y="33375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2F5586"/>
                </a:solidFill>
                <a:latin typeface="Georgia"/>
              </a:rPr>
              <a:t>11,460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76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40">
                <a:solidFill>
                  <a:srgbClr val="5F5D57"/>
                </a:solidFill>
                <a:latin typeface="Arial"/>
              </a:rPr>
              <a:t>lines of code removed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3401568"/>
            <a:ext cx="0" cy="667512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0" y="33375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2F5586"/>
                </a:solidFill>
                <a:latin typeface="Georgia"/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76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40">
                <a:solidFill>
                  <a:srgbClr val="5F5D57"/>
                </a:solidFill>
                <a:latin typeface="Arial"/>
              </a:rPr>
              <a:t>paid data or API keys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526280"/>
            <a:ext cx="731520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914400" y="463600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5F5D57"/>
                </a:solidFill>
                <a:latin typeface="Courier New"/>
              </a:rPr>
              <a:t>github.com/morid648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0000 0.0000 E" pathEditMode="relative" ptsTypes="AA">
                                      <p:cBhvr>
                                        <p:cTn id="5" dur="30000" repeatCount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Real fundamentals, a live DCF model, and risk — computed fresh, not templated.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8836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883664" cy="41148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2F558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1C1C1A"/>
                </a:solidFill>
                <a:latin typeface="Georgia"/>
              </a:rPr>
              <a:t>Ratios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16 metrics computed from the company’s own reported balance sheet and income statement.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783080"/>
            <a:ext cx="18836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1783080"/>
            <a:ext cx="1883664" cy="41148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9659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2F5586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167128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1C1C1A"/>
                </a:solidFill>
                <a:latin typeface="Georgia"/>
              </a:rPr>
              <a:t>DCF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496312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Five-year cash flow, WACC, and a sensitivity grid — every input adjustable live.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783080"/>
            <a:ext cx="18836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783080"/>
            <a:ext cx="1883664" cy="41148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9659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2F5586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167128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1C1C1A"/>
                </a:solidFill>
                <a:latin typeface="Georgia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496312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Historical VaR, Sharpe ratio, and volatility from a year of actual daily prices.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8" y="1783080"/>
            <a:ext cx="18836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1783080"/>
            <a:ext cx="1883664" cy="41148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19659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2F5586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167128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1C1C1A"/>
                </a:solidFill>
                <a:latin typeface="Georgia"/>
              </a:rPr>
              <a:t>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496312"/>
            <a:ext cx="15179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Recent headlines scored individually by a finance-tuned language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solidFill>
            <a:srgbClr val="E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7033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20">
                <a:solidFill>
                  <a:srgbClr val="5F5D57"/>
                </a:solidFill>
                <a:latin typeface="Arial"/>
              </a:rPr>
              <a:t>DATA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904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1C1C1A"/>
                </a:solidFill>
                <a:latin typeface="Georgia"/>
              </a:rPr>
              <a:t>$0 — no paid API keys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30880" y="3703320"/>
            <a:ext cx="0" cy="45720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505200" y="37033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20">
                <a:solidFill>
                  <a:srgbClr val="5F5D57"/>
                </a:solidFill>
                <a:latin typeface="Arial"/>
              </a:rPr>
              <a:t>MARKET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3904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1C1C1A"/>
                </a:solidFill>
                <a:latin typeface="Georgia"/>
              </a:rPr>
              <a:t>NSE, BSE, and US tickers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13120" y="3703320"/>
            <a:ext cx="0" cy="45720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187440" y="370332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20">
                <a:solidFill>
                  <a:srgbClr val="5F5D57"/>
                </a:solidFill>
                <a:latin typeface="Arial"/>
              </a:rPr>
              <a:t>WHEN DATA IS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7440" y="3904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1C1C1A"/>
                </a:solidFill>
                <a:latin typeface="Georgia"/>
              </a:rPr>
              <a:t>N/A — never estimated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10" grpId="0" animBg="1"/>
      <p:bldP spid="15" grpId="0" animBg="1"/>
      <p:bldP spid="20" grpId="0" animBg="1"/>
      <p:bldP spid="6" grpId="0" animBg="1"/>
      <p:bldP spid="11" grpId="0" animBg="1"/>
      <p:bldP spid="16" grpId="0" animBg="1"/>
      <p:bldP spid="21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In financial software, one wrong number costs more than ten missing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5F5D57"/>
                </a:solidFill>
                <a:latin typeface="Arial"/>
              </a:rPr>
              <a:t>ABOVE THE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48256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C1C1A"/>
                </a:solidFill>
                <a:latin typeface="Georgia"/>
              </a:rPr>
              <a:t>Feature count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C1C1A"/>
                </a:solidFill>
                <a:latin typeface="Georgia"/>
              </a:rPr>
              <a:t>is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93392"/>
            <a:ext cx="13670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993392"/>
            <a:ext cx="109270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C1C1A"/>
                </a:solidFill>
                <a:latin typeface="Arial"/>
              </a:rPr>
              <a:t>✓  Ratios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8244" y="1993392"/>
            <a:ext cx="13670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4548" y="1993392"/>
            <a:ext cx="109270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C1C1A"/>
                </a:solidFill>
                <a:latin typeface="Arial"/>
              </a:rPr>
              <a:t>✓  DCF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993392"/>
            <a:ext cx="13670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9592" y="1993392"/>
            <a:ext cx="109270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C1C1A"/>
                </a:solidFill>
                <a:latin typeface="Arial"/>
              </a:rPr>
              <a:t>✓ 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8332" y="1993392"/>
            <a:ext cx="13670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4636" y="1993392"/>
            <a:ext cx="109270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C1C1A"/>
                </a:solidFill>
                <a:latin typeface="Arial"/>
              </a:rPr>
              <a:t>✓  Sentiment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697480"/>
            <a:ext cx="9144000" cy="1965959"/>
          </a:xfrm>
          <a:prstGeom prst="rect">
            <a:avLst/>
          </a:prstGeom>
          <a:solidFill>
            <a:srgbClr val="E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2697480"/>
            <a:ext cx="9144000" cy="0"/>
          </a:xfrm>
          <a:prstGeom prst="line">
            <a:avLst/>
          </a:prstGeom>
          <a:ln w="19050">
            <a:solidFill>
              <a:srgbClr val="2F558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29718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B3412C"/>
                </a:solidFill>
                <a:latin typeface="Arial"/>
              </a:rPr>
              <a:t>BELOW THE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91256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B3412C"/>
                </a:solidFill>
                <a:latin typeface="Georgia"/>
              </a:rPr>
              <a:t>Silent errors</a:t>
            </a:r>
          </a:p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B3412C"/>
                </a:solidFill>
                <a:latin typeface="Georgia"/>
              </a:rPr>
              <a:t>are 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971800"/>
            <a:ext cx="1853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971800"/>
            <a:ext cx="45720" cy="1325880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3118104"/>
            <a:ext cx="148742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B3412C"/>
                </a:solidFill>
                <a:latin typeface="Georgia"/>
              </a:rPr>
              <a:t>100×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611880"/>
            <a:ext cx="148742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unit error in Debt-to-Equity — a safe company read as distressed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688" y="2971800"/>
            <a:ext cx="1853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42688" y="2971800"/>
            <a:ext cx="45720" cy="1325880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3856" y="3118104"/>
            <a:ext cx="148742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B3412C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3856" y="3611880"/>
            <a:ext cx="148742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core ratios hardcoded as placeholder text, never computed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2176" y="2971800"/>
            <a:ext cx="1853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2176" y="2971800"/>
            <a:ext cx="45720" cy="1325880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3344" y="3118104"/>
            <a:ext cx="148742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B3412C"/>
                </a:solidFill>
                <a:latin typeface="Georgia"/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344" y="3611880"/>
            <a:ext cx="1487424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silent defects in total, found only by a systematic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docs/ROOT_CAUSE_ANALYSIS.md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AUDIT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The audit found 17 real defects — and closed every one.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913632"/>
            <a:ext cx="5212079" cy="0"/>
          </a:xfrm>
          <a:prstGeom prst="line">
            <a:avLst/>
          </a:prstGeom>
          <a:ln w="9525">
            <a:solidFill>
              <a:srgbClr val="1C1C1A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640080" y="1856232"/>
            <a:ext cx="512064" cy="2057400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19" y="160934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1C1C1A"/>
                </a:solidFill>
                <a:latin typeface="Georgia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5F5D57"/>
                </a:solidFill>
                <a:latin typeface="Arial"/>
              </a:rPr>
              <a:t>Found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52144" y="1856232"/>
            <a:ext cx="356616" cy="0"/>
          </a:xfrm>
          <a:prstGeom prst="line">
            <a:avLst/>
          </a:prstGeom>
          <a:ln w="9525">
            <a:solidFill>
              <a:srgbClr val="8F8B82"/>
            </a:solidFill>
            <a:prstDash val="dash"/>
          </a:ln>
        </p:spPr>
      </p:cxnSp>
      <p:sp>
        <p:nvSpPr>
          <p:cNvPr id="10" name="Rectangle 9"/>
          <p:cNvSpPr/>
          <p:nvPr/>
        </p:nvSpPr>
        <p:spPr>
          <a:xfrm>
            <a:off x="1508760" y="1856232"/>
            <a:ext cx="512064" cy="847164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0934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B3412C"/>
                </a:solidFill>
                <a:latin typeface="Georgia"/>
              </a:rPr>
              <a:t>−7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5F5D57"/>
                </a:solidFill>
                <a:latin typeface="Arial"/>
              </a:rPr>
              <a:t>Critical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20824" y="2703396"/>
            <a:ext cx="356615" cy="0"/>
          </a:xfrm>
          <a:prstGeom prst="line">
            <a:avLst/>
          </a:prstGeom>
          <a:ln w="9525">
            <a:solidFill>
              <a:srgbClr val="8F8B82"/>
            </a:solidFill>
            <a:prstDash val="dash"/>
          </a:ln>
        </p:spPr>
      </p:cxnSp>
      <p:sp>
        <p:nvSpPr>
          <p:cNvPr id="14" name="Rectangle 13"/>
          <p:cNvSpPr/>
          <p:nvPr/>
        </p:nvSpPr>
        <p:spPr>
          <a:xfrm>
            <a:off x="2377439" y="2703396"/>
            <a:ext cx="512064" cy="484094"/>
          </a:xfrm>
          <a:prstGeom prst="rect">
            <a:avLst/>
          </a:prstGeom>
          <a:solidFill>
            <a:srgbClr val="926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456508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92620F"/>
                </a:solidFill>
                <a:latin typeface="Georgia"/>
              </a:rPr>
              <a:t>−4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59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5F5D57"/>
                </a:solidFill>
                <a:latin typeface="Arial"/>
              </a:rPr>
              <a:t>High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9503" y="3187490"/>
            <a:ext cx="356617" cy="0"/>
          </a:xfrm>
          <a:prstGeom prst="line">
            <a:avLst/>
          </a:prstGeom>
          <a:ln w="9525">
            <a:solidFill>
              <a:srgbClr val="8F8B82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3246120" y="3187490"/>
            <a:ext cx="512064" cy="605117"/>
          </a:xfrm>
          <a:prstGeom prst="rect">
            <a:avLst/>
          </a:prstGeom>
          <a:solidFill>
            <a:srgbClr val="6F8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94060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6F8DB3"/>
                </a:solidFill>
                <a:latin typeface="Georgia"/>
              </a:rPr>
              <a:t>−5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5F5D57"/>
                </a:solidFill>
                <a:latin typeface="Arial"/>
              </a:rPr>
              <a:t>Medium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58183" y="3792608"/>
            <a:ext cx="356617" cy="0"/>
          </a:xfrm>
          <a:prstGeom prst="line">
            <a:avLst/>
          </a:prstGeom>
          <a:ln w="9525">
            <a:solidFill>
              <a:srgbClr val="8F8B82"/>
            </a:solidFill>
            <a:prstDash val="dash"/>
          </a:ln>
        </p:spPr>
      </p:cxnSp>
      <p:sp>
        <p:nvSpPr>
          <p:cNvPr id="22" name="Rectangle 21"/>
          <p:cNvSpPr/>
          <p:nvPr/>
        </p:nvSpPr>
        <p:spPr>
          <a:xfrm>
            <a:off x="4114800" y="3792608"/>
            <a:ext cx="512064" cy="121023"/>
          </a:xfrm>
          <a:prstGeom prst="rect">
            <a:avLst/>
          </a:prstGeom>
          <a:solidFill>
            <a:srgbClr val="8F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545720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0">
                <a:solidFill>
                  <a:srgbClr val="8F8B82"/>
                </a:solidFill>
                <a:latin typeface="Georgia"/>
              </a:rPr>
              <a:t>−1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5F5D57"/>
                </a:solidFill>
                <a:latin typeface="Arial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867912"/>
            <a:ext cx="512064" cy="45720"/>
          </a:xfrm>
          <a:prstGeom prst="rect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62102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1F7A4C"/>
                </a:solidFill>
                <a:latin typeface="Georgi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98678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F7A4C"/>
                </a:solidFill>
                <a:latin typeface="Arial"/>
              </a:rPr>
              <a:t>Open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26864" y="3913632"/>
            <a:ext cx="356616" cy="0"/>
          </a:xfrm>
          <a:prstGeom prst="line">
            <a:avLst/>
          </a:prstGeom>
          <a:ln w="9525">
            <a:solidFill>
              <a:srgbClr val="8F8B82"/>
            </a:solidFill>
            <a:prstDash val="dash"/>
          </a:ln>
        </p:spPr>
      </p:cxnSp>
      <p:sp>
        <p:nvSpPr>
          <p:cNvPr id="29" name="Rectangle 28"/>
          <p:cNvSpPr/>
          <p:nvPr/>
        </p:nvSpPr>
        <p:spPr>
          <a:xfrm>
            <a:off x="6217920" y="1783080"/>
            <a:ext cx="23774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9385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B3412C"/>
                </a:solidFill>
                <a:latin typeface="Georgia"/>
              </a:rPr>
              <a:t>11 of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3957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were Critical or High severity (65%)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46520" y="2880360"/>
            <a:ext cx="192024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446520" y="30175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1F7A4C"/>
                </a:solidFill>
                <a:latin typeface="Georgia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remain open — every fix re-verified against live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7939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5D57"/>
                </a:solidFill>
                <a:latin typeface="Arial"/>
              </a:rPr>
              <a:t>Every finding was traced to one root cause and fixed with the real formula — not patched where the symptom happened to show up.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docs/ROOT_CAUSE_ANALYSIS.md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 animBg="1"/>
      <p:bldP spid="12" grpId="0" animBg="1"/>
      <p:bldP spid="16" grpId="0" animBg="1"/>
      <p:bldP spid="20" grpId="0" animBg="1"/>
      <p:bldP spid="24" grpId="0" animBg="1"/>
      <p:bldP spid="27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8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CASE 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A 100× unit error made a safe company look distressed.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703320" cy="41148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20">
                <a:solidFill>
                  <a:srgbClr val="B3412C"/>
                </a:solidFill>
                <a:latin typeface="Arial"/>
              </a:rPr>
              <a:t>BEFORE — IN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315467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Debt-to-Equity, Utique Enterprises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1C1C1A"/>
                </a:solidFill>
                <a:latin typeface="Georgia"/>
              </a:rPr>
              <a:t>1.41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16352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1C1C1A"/>
                </a:solidFill>
                <a:latin typeface="Arial"/>
              </a:rPr>
              <a:t>Flagged “High Risk” — elevated leverage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73736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737360"/>
            <a:ext cx="3703320" cy="41148"/>
          </a:xfrm>
          <a:prstGeom prst="rect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20">
                <a:solidFill>
                  <a:srgbClr val="1F7A4C"/>
                </a:solidFill>
                <a:latin typeface="Arial"/>
              </a:rPr>
              <a:t>AFTER — CORRECTED &amp;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21408"/>
            <a:ext cx="315467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Debt-to-Equity, Utique 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860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0" i="0">
                <a:solidFill>
                  <a:srgbClr val="1F7A4C"/>
                </a:solidFill>
                <a:latin typeface="Georgia"/>
              </a:rPr>
              <a:t>0.01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16352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1C1C1A"/>
                </a:solidFill>
                <a:latin typeface="Arial"/>
              </a:rPr>
              <a:t>Matches Screener.in’s published figure exactly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2560320"/>
            <a:ext cx="1005840" cy="0"/>
          </a:xfrm>
          <a:prstGeom prst="line">
            <a:avLst/>
          </a:prstGeom>
          <a:ln w="28575">
            <a:solidFill>
              <a:srgbClr val="B3412C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100×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39312"/>
            <a:ext cx="8046720" cy="45720"/>
          </a:xfrm>
          <a:prstGeom prst="rect">
            <a:avLst/>
          </a:prstGeom>
          <a:solidFill>
            <a:srgbClr val="E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31012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50" b="0" i="0" spc="100">
                <a:solidFill>
                  <a:srgbClr val="8F8B82"/>
                </a:solidFill>
                <a:latin typeface="Courier New"/>
              </a:rPr>
              <a:t>DEBT-TO-EQUITY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8F8B82"/>
                </a:solidFill>
                <a:latin typeface="Courier New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49039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i="0">
                <a:solidFill>
                  <a:srgbClr val="8F8B82"/>
                </a:solidFill>
                <a:latin typeface="Courier New"/>
              </a:rPr>
              <a:t>1.5</a:t>
            </a:r>
          </a:p>
        </p:txBody>
      </p:sp>
      <p:sp>
        <p:nvSpPr>
          <p:cNvPr id="24" name="Oval 23"/>
          <p:cNvSpPr/>
          <p:nvPr/>
        </p:nvSpPr>
        <p:spPr>
          <a:xfrm>
            <a:off x="8030260" y="3579876"/>
            <a:ext cx="164592" cy="164592"/>
          </a:xfrm>
          <a:prstGeom prst="ellipse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9516" y="33649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50" b="0" i="0">
                <a:solidFill>
                  <a:srgbClr val="B3412C"/>
                </a:solidFill>
                <a:latin typeface="Courier New"/>
              </a:rPr>
              <a:t>1.41 as shown</a:t>
            </a:r>
          </a:p>
        </p:txBody>
      </p:sp>
      <p:sp>
        <p:nvSpPr>
          <p:cNvPr id="26" name="Oval 25"/>
          <p:cNvSpPr/>
          <p:nvPr/>
        </p:nvSpPr>
        <p:spPr>
          <a:xfrm>
            <a:off x="519988" y="3579876"/>
            <a:ext cx="164592" cy="164592"/>
          </a:xfrm>
          <a:prstGeom prst="ellipse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876" y="33649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1F7A4C"/>
                </a:solidFill>
                <a:latin typeface="Courier New"/>
              </a:rPr>
              <a:t>0.01 actual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5D57"/>
                </a:solidFill>
                <a:latin typeface="Arial"/>
              </a:rPr>
              <a:t>Root cause: the data field was already a percentage. The old code divided by 100 only when a number “looked too big” — a guess, not a rule — so small-but-correct values passed through and were misread as raw ratios.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docs/ROOT_CAUSE_ANALYSIS.md #7, cross-checked against Screener.in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3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0" presetClass="path" presetSubtype="0" accel="50000" decel="5000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8213 0.0000 L 0 0 E" pathEditMode="relative" ptsTypes="AA">
                                      <p:cBhvr>
                                        <p:cTn id="101" dur="1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1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WHAT ELSE IT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Four other ratios weren’t wrong — they were never calculated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883664" cy="41148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B3412C"/>
                </a:solidFill>
                <a:latin typeface="Courier New"/>
              </a:rPr>
              <a:t>HARDCODED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C1C1A"/>
                </a:solidFill>
                <a:latin typeface="Georgia"/>
              </a:rPr>
              <a:t>Altman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79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Bankruptcy-risk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78308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1783080"/>
            <a:ext cx="1883664" cy="41148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96596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B3412C"/>
                </a:solidFill>
                <a:latin typeface="Courier New"/>
              </a:rPr>
              <a:t>HARDCODED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148840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C1C1A"/>
                </a:solidFill>
                <a:latin typeface="Georgia"/>
              </a:rPr>
              <a:t>Return on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697479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Capital-efficiency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78308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783080"/>
            <a:ext cx="1883664" cy="41148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96596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B3412C"/>
                </a:solidFill>
                <a:latin typeface="Courier New"/>
              </a:rPr>
              <a:t>HARDCODED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148840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C1C1A"/>
                </a:solidFill>
                <a:latin typeface="Georgia"/>
              </a:rPr>
              <a:t>Interest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697479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Debt-servicing 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8" y="178308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1783080"/>
            <a:ext cx="1883664" cy="41148"/>
          </a:xfrm>
          <a:prstGeom prst="rect">
            <a:avLst/>
          </a:prstGeom>
          <a:solidFill>
            <a:srgbClr val="B34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196596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B3412C"/>
                </a:solidFill>
                <a:latin typeface="Courier New"/>
              </a:rPr>
              <a:t>HARDCODED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148840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C1C1A"/>
                </a:solidFill>
                <a:latin typeface="Georgia"/>
              </a:rPr>
              <a:t>Cash 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697479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950" b="0" i="0">
                <a:solidFill>
                  <a:srgbClr val="5F5D57"/>
                </a:solidFill>
                <a:latin typeface="Arial"/>
              </a:rPr>
              <a:t>Working-capital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F5D57"/>
                </a:solidFill>
                <a:latin typeface="Arial"/>
              </a:rPr>
              <a:t>Each was a hardcoded placeholder — identical output for every company in the same debt tier, whatever its real financials.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45720" cy="731520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749039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C1C1A"/>
                </a:solidFill>
                <a:latin typeface="Georgia"/>
              </a:rPr>
              <a:t>A tool that returns a confident, wrong answer is more dangerous than one that returns no answer.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docs/ROOT_CAUSE_ANALYSIS.md #2–#5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HOW EACH ONE WAS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Root-caused, fixed, re-verified — never just patched.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1938528"/>
            <a:ext cx="6144768" cy="0"/>
          </a:xfrm>
          <a:prstGeom prst="line">
            <a:avLst/>
          </a:prstGeom>
          <a:ln w="25400">
            <a:solidFill>
              <a:srgbClr val="DDDAD3"/>
            </a:solidFill>
          </a:ln>
        </p:spPr>
      </p:cxnSp>
      <p:sp>
        <p:nvSpPr>
          <p:cNvPr id="6" name="Oval 5"/>
          <p:cNvSpPr/>
          <p:nvPr/>
        </p:nvSpPr>
        <p:spPr>
          <a:xfrm>
            <a:off x="685800" y="1874520"/>
            <a:ext cx="128016" cy="128016"/>
          </a:xfrm>
          <a:prstGeom prst="ellipse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2F5586"/>
                </a:solidFill>
                <a:latin typeface="Courier New"/>
              </a:rPr>
              <a:t>01</a:t>
            </a:r>
          </a:p>
        </p:txBody>
      </p:sp>
      <p:sp>
        <p:nvSpPr>
          <p:cNvPr id="9" name="Chevron 8"/>
          <p:cNvSpPr/>
          <p:nvPr/>
        </p:nvSpPr>
        <p:spPr>
          <a:xfrm>
            <a:off x="1700784" y="1865376"/>
            <a:ext cx="146304" cy="146304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C1C1A"/>
                </a:solidFill>
                <a:latin typeface="Georgia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17465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Confirm the exact symptom against live data before touching any code.</a:t>
            </a:r>
          </a:p>
        </p:txBody>
      </p:sp>
      <p:sp>
        <p:nvSpPr>
          <p:cNvPr id="12" name="Oval 11"/>
          <p:cNvSpPr/>
          <p:nvPr/>
        </p:nvSpPr>
        <p:spPr>
          <a:xfrm>
            <a:off x="2596896" y="17373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17373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2F5586"/>
                </a:solidFill>
                <a:latin typeface="Courier New"/>
              </a:rPr>
              <a:t>02</a:t>
            </a:r>
          </a:p>
        </p:txBody>
      </p:sp>
      <p:sp>
        <p:nvSpPr>
          <p:cNvPr id="14" name="Chevron 13"/>
          <p:cNvSpPr/>
          <p:nvPr/>
        </p:nvSpPr>
        <p:spPr>
          <a:xfrm>
            <a:off x="3749039" y="1865376"/>
            <a:ext cx="146304" cy="146304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304288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C1C1A"/>
                </a:solidFill>
                <a:latin typeface="Georgia"/>
              </a:rPr>
              <a:t>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596896"/>
            <a:ext cx="17465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Follow it to the one root cause — not the nearest place it happens to show up.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17373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7373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2F5586"/>
                </a:solidFill>
                <a:latin typeface="Courier New"/>
              </a:rPr>
              <a:t>03</a:t>
            </a:r>
          </a:p>
        </p:txBody>
      </p:sp>
      <p:sp>
        <p:nvSpPr>
          <p:cNvPr id="19" name="Chevron 18"/>
          <p:cNvSpPr/>
          <p:nvPr/>
        </p:nvSpPr>
        <p:spPr>
          <a:xfrm>
            <a:off x="5797296" y="1865376"/>
            <a:ext cx="146304" cy="146304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2304288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C1C1A"/>
                </a:solidFill>
                <a:latin typeface="Georgia"/>
              </a:rPr>
              <a:t>Rebuild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596896"/>
            <a:ext cx="17465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Replace the guess with the real formula, sourced from the underlying data.</a:t>
            </a:r>
          </a:p>
        </p:txBody>
      </p:sp>
      <p:sp>
        <p:nvSpPr>
          <p:cNvPr id="22" name="Oval 21"/>
          <p:cNvSpPr/>
          <p:nvPr/>
        </p:nvSpPr>
        <p:spPr>
          <a:xfrm>
            <a:off x="6693408" y="17373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55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173736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2F5586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04288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C1C1A"/>
                </a:solidFill>
                <a:latin typeface="Georgia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596896"/>
            <a:ext cx="17465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Re-test across multiple live tickers and, where possible, an external source.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685032"/>
            <a:ext cx="173736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1F7A4C"/>
                </a:solidFill>
                <a:latin typeface="Georgia"/>
              </a:rPr>
              <a:t>17 /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749039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C1C1A"/>
                </a:solidFill>
                <a:latin typeface="Arial"/>
              </a:rPr>
              <a:t>Findings fixed and verified against live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99592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5F5D57"/>
                </a:solidFill>
                <a:latin typeface="Arial"/>
              </a:rPr>
              <a:t>Full before/after evidence for each one is documented.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04488"/>
            <a:ext cx="2103120" cy="91440"/>
          </a:xfrm>
          <a:prstGeom prst="rect">
            <a:avLst/>
          </a:prstGeom>
          <a:solidFill>
            <a:srgbClr val="E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04488"/>
            <a:ext cx="2103120" cy="91440"/>
          </a:xfrm>
          <a:prstGeom prst="rect">
            <a:avLst/>
          </a:prstGeom>
          <a:solidFill>
            <a:srgbClr val="1F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06908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1" i="0" spc="100">
                <a:solidFill>
                  <a:srgbClr val="1F7A4C"/>
                </a:solidFill>
                <a:latin typeface="Courier New"/>
              </a:rPr>
              <a:t>100% CLOSED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docs/ROOT_CAUSE_ANALYSIS.md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6720 0.0000 E" pathEditMode="relative" ptsTypes="AA">
                                      <p:cBhvr>
                                        <p:cTn id="104" dur="3200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1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9" grpId="0" animBg="1"/>
      <p:bldP spid="12" grpId="0" animBg="1"/>
      <p:bldP spid="13" grpId="0" animBg="1"/>
      <p:bldP spid="15" grpId="0" animBg="1"/>
      <p:bldP spid="16" grpId="0" animBg="1"/>
      <p:bldP spid="14" grpId="0" animBg="1"/>
      <p:bldP spid="17" grpId="0" animBg="1"/>
      <p:bldP spid="18" grpId="0" animBg="1"/>
      <p:bldP spid="20" grpId="0" animBg="1"/>
      <p:bldP spid="21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6" grpId="1" animBg="1"/>
      <p:bldP spid="6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BEYOND THE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The same rigor was applied to the design — and to the codebase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C1C1A"/>
                </a:solidFill>
                <a:latin typeface="Arial"/>
              </a:rPr>
              <a:t>Design discipline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2395728"/>
            <a:ext cx="182880" cy="182880"/>
          </a:xfrm>
          <a:prstGeom prst="ellipse">
            <a:avLst/>
          </a:prstGeom>
          <a:solidFill>
            <a:srgbClr val="6BA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395728"/>
            <a:ext cx="182880" cy="182880"/>
          </a:xfrm>
          <a:prstGeom prst="ellipse">
            <a:avLst/>
          </a:prstGeom>
          <a:solidFill>
            <a:srgbClr val="5C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395728"/>
            <a:ext cx="182880" cy="182880"/>
          </a:xfrm>
          <a:prstGeom prst="ellipse">
            <a:avLst/>
          </a:prstGeom>
          <a:solidFill>
            <a:srgbClr val="9C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1719072" y="2432304"/>
            <a:ext cx="274320" cy="109728"/>
          </a:xfrm>
          <a:prstGeom prst="rightArrow">
            <a:avLst/>
          </a:prstGeom>
          <a:solidFill>
            <a:srgbClr val="8F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21408" y="2359152"/>
            <a:ext cx="256032" cy="256032"/>
          </a:xfrm>
          <a:prstGeom prst="ellipse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8F8B82"/>
                </a:solidFill>
                <a:latin typeface="Courier New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5409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F5D57"/>
                </a:solidFill>
                <a:latin typeface="Arial"/>
              </a:rPr>
              <a:t>Three accent colors, glass panels, gradients and glow.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520439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 i="0" spc="100">
                <a:solidFill>
                  <a:srgbClr val="2F5586"/>
                </a:solidFill>
                <a:latin typeface="Courier New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69417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One accent color, hairline borders, no decorative motion — a restrained editorial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73736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C1C1A"/>
                </a:solidFill>
                <a:latin typeface="Arial"/>
              </a:rPr>
              <a:t>Code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042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2F5586"/>
                </a:solidFill>
                <a:latin typeface="Georgia"/>
              </a:rPr>
              <a:t>11,460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70048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60">
                <a:solidFill>
                  <a:srgbClr val="5F5D57"/>
                </a:solidFill>
                <a:latin typeface="Courier New"/>
              </a:rPr>
              <a:t>LINES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042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2F5586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70048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60">
                <a:solidFill>
                  <a:srgbClr val="5F5D57"/>
                </a:solidFill>
                <a:latin typeface="Courier New"/>
              </a:rPr>
              <a:t>DEPENDENCIES DROPPED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6265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2F5586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32841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60">
                <a:solidFill>
                  <a:srgbClr val="5F5D57"/>
                </a:solidFill>
                <a:latin typeface="Courier New"/>
              </a:rPr>
              <a:t>DOCKER SERVICES RETIRED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96265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1F7A4C"/>
                </a:solidFill>
                <a:latin typeface="Georg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32841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 i="0" spc="60">
                <a:solidFill>
                  <a:srgbClr val="5F5D57"/>
                </a:solidFill>
                <a:latin typeface="Courier New"/>
              </a:rPr>
              <a:t>REGRESSIONS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F5D57"/>
                </a:solidFill>
                <a:latin typeface="Arial"/>
              </a:rPr>
              <a:t>A second audit removed an orphaned dashboard, an unused database layer, and dead auth middleware — then every page was re-tested.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  ·  Source: repo audit — line counts via wc -l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3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3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3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6" grpId="0" animBg="1"/>
      <p:bldP spid="17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WHAT THIS MEANS FOR A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C1C1A"/>
                </a:solidFill>
                <a:latin typeface="Georgia"/>
              </a:rPr>
              <a:t>Five things this project demonstrates on the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5F5D57"/>
                </a:solidFill>
                <a:latin typeface="Arial"/>
              </a:rPr>
              <a:t>WHAT WAS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5727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2F5586"/>
                </a:solidFill>
                <a:latin typeface="Arial"/>
              </a:rPr>
              <a:t>WHAT IT PROVES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94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Found and fixed 17 production-accuracy defects</a:t>
            </a:r>
          </a:p>
        </p:txBody>
      </p:sp>
      <p:sp>
        <p:nvSpPr>
          <p:cNvPr id="9" name="Chevron 8"/>
          <p:cNvSpPr/>
          <p:nvPr/>
        </p:nvSpPr>
        <p:spPr>
          <a:xfrm>
            <a:off x="4471416" y="1965960"/>
            <a:ext cx="182880" cy="164592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828800"/>
            <a:ext cx="36576" cy="438912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82880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1C1C1A"/>
                </a:solidFill>
                <a:latin typeface="Georgia"/>
              </a:rPr>
              <a:t>Won’t ship confidently-wrong numbers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77440"/>
            <a:ext cx="3794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744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Rebuilt DCF and ratio formulas from first principles</a:t>
            </a:r>
          </a:p>
        </p:txBody>
      </p:sp>
      <p:sp>
        <p:nvSpPr>
          <p:cNvPr id="14" name="Chevron 13"/>
          <p:cNvSpPr/>
          <p:nvPr/>
        </p:nvSpPr>
        <p:spPr>
          <a:xfrm>
            <a:off x="4471416" y="2514600"/>
            <a:ext cx="182880" cy="164592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377440"/>
            <a:ext cx="36576" cy="438912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37744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1C1C1A"/>
                </a:solidFill>
                <a:latin typeface="Georgia"/>
              </a:rPr>
              <a:t>Can own a financial model end-to-end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3794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92608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Removed 11,460 lines of code with zero regressions</a:t>
            </a:r>
          </a:p>
        </p:txBody>
      </p:sp>
      <p:sp>
        <p:nvSpPr>
          <p:cNvPr id="19" name="Chevron 18"/>
          <p:cNvSpPr/>
          <p:nvPr/>
        </p:nvSpPr>
        <p:spPr>
          <a:xfrm>
            <a:off x="4471416" y="3063240"/>
            <a:ext cx="182880" cy="164592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2926080"/>
            <a:ext cx="36576" cy="438912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2608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1C1C1A"/>
                </a:solidFill>
                <a:latin typeface="Georgia"/>
              </a:rPr>
              <a:t>Says no to complexity, not just yes to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3794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47472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Redesigned the interface into one coherent system</a:t>
            </a:r>
          </a:p>
        </p:txBody>
      </p:sp>
      <p:sp>
        <p:nvSpPr>
          <p:cNvPr id="24" name="Chevron 23"/>
          <p:cNvSpPr/>
          <p:nvPr/>
        </p:nvSpPr>
        <p:spPr>
          <a:xfrm>
            <a:off x="4471416" y="3611879"/>
            <a:ext cx="182880" cy="164592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3474720"/>
            <a:ext cx="36576" cy="438912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47472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1C1C1A"/>
                </a:solidFill>
                <a:latin typeface="Georgia"/>
              </a:rPr>
              <a:t>Can operate as engineer and product 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3794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02336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Arial"/>
              </a:rPr>
              <a:t>Documented the audit as a public, numbered trail</a:t>
            </a:r>
          </a:p>
        </p:txBody>
      </p:sp>
      <p:sp>
        <p:nvSpPr>
          <p:cNvPr id="29" name="Chevron 28"/>
          <p:cNvSpPr/>
          <p:nvPr/>
        </p:nvSpPr>
        <p:spPr>
          <a:xfrm>
            <a:off x="4471416" y="4160520"/>
            <a:ext cx="182880" cy="164592"/>
          </a:xfrm>
          <a:prstGeom prst="chevron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4023360"/>
            <a:ext cx="36576" cy="438912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4023360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 i="0">
                <a:solidFill>
                  <a:srgbClr val="1C1C1A"/>
                </a:solidFill>
                <a:latin typeface="Georgia"/>
              </a:rPr>
              <a:t>Makes technical judgment clear to non-engineers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2296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 spc="150">
                <a:solidFill>
                  <a:srgbClr val="2F5586"/>
                </a:solidFill>
                <a:latin typeface="Arial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C1C1A"/>
                </a:solidFill>
                <a:latin typeface="Georgia"/>
              </a:rPr>
              <a:t>Read the audit, then let’s talk.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41148" cy="868680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5F5D57"/>
                </a:solidFill>
                <a:latin typeface="Arial"/>
              </a:rPr>
              <a:t>FULL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579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Courier New"/>
              </a:rPr>
              <a:t>docs/ROOT_CAUSE_ANALYSIS.md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737360"/>
            <a:ext cx="3931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737360"/>
            <a:ext cx="41148" cy="868680"/>
          </a:xfrm>
          <a:prstGeom prst="rect">
            <a:avLst/>
          </a:prstGeom>
          <a:solidFill>
            <a:srgbClr val="2F5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92024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 spc="150">
                <a:solidFill>
                  <a:srgbClr val="5F5D57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579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C1C1A"/>
                </a:solidFill>
                <a:latin typeface="Courier New"/>
                <a:hlinkClick r:id="rId2"/>
              </a:rPr>
              <a:t>github.com/morid648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C1C1A"/>
                </a:solidFill>
                <a:latin typeface="Georgia"/>
              </a:rPr>
              <a:t>I’d like to bring this same standard — audit, fix, verify, simplify — to your team.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977639"/>
            <a:ext cx="1097279" cy="0"/>
          </a:xfrm>
          <a:prstGeom prst="line">
            <a:avLst/>
          </a:prstGeom>
          <a:ln w="19050">
            <a:solidFill>
              <a:srgbClr val="2F5586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5F5D57"/>
                </a:solidFill>
                <a:latin typeface="Courier New"/>
              </a:rPr>
              <a:t>Anshul  ·  morid648@gmail.com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736592"/>
            <a:ext cx="8046720" cy="0"/>
          </a:xfrm>
          <a:prstGeom prst="line">
            <a:avLst/>
          </a:prstGeom>
          <a:ln w="9525">
            <a:solidFill>
              <a:srgbClr val="DDDAD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481888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8B82"/>
                </a:solidFill>
                <a:latin typeface="Arial"/>
              </a:rPr>
              <a:t>FinResearch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8188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8F8B82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FinResearch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