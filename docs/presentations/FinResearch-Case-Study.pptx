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B341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B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41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2620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5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693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4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B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7F6F3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514"/>
            <a:ext cx="914400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77701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RELIANCE.NS  ·  TCS.NS  ·  AAPL  ·  NVDA  ·  CANBK.NS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456134"/>
            <a:ext cx="126950" cy="12695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786235"/>
            <a:ext cx="7461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16336"/>
            <a:ext cx="746150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FinResearch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064966"/>
            <a:ext cx="59587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1800"/>
              </a:spcBef>
              <a:buNone/>
            </a:pPr>
            <a:r>
              <a:rPr lang="en-US" sz="15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equity-research tool that was built, audited, and rebuilt — for correctness, not just features.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599087"/>
            <a:ext cx="914400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950" y="4807000"/>
            <a:ext cx="6543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prepared for hiring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23038" y="4807000"/>
            <a:ext cx="1747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live demo URL ] · [ GitHub URL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7772400" cy="761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fundamentals, a live DCF model, and risk — computed fresh, not templated.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58701" y="1932980"/>
            <a:ext cx="8026598" cy="12650"/>
          </a:xfrm>
          <a:prstGeom prst="rect">
            <a:avLst/>
          </a:prstGeom>
          <a:solidFill>
            <a:srgbClr val="E3E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8226" y="2224980"/>
            <a:ext cx="0" cy="99060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5452" y="2224980"/>
            <a:ext cx="15028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5452" y="2491680"/>
            <a:ext cx="150286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metrics computed from the company’s own reported balance sheet and income statement.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19226" y="2224980"/>
            <a:ext cx="0" cy="99060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6452" y="2224980"/>
            <a:ext cx="1503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06452" y="2491680"/>
            <a:ext cx="150301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cash flow, WACC, and a sensitivity grid — every input adjustable live.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70375" y="2224980"/>
            <a:ext cx="0" cy="99060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7601" y="2224980"/>
            <a:ext cx="15028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57601" y="2491680"/>
            <a:ext cx="150286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VaR, Sharpe ratio, and volatility from a year of actual daily prices.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1376" y="2224980"/>
            <a:ext cx="0" cy="99060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8602" y="2224980"/>
            <a:ext cx="1503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8602" y="2491680"/>
            <a:ext cx="150301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headlines scored individually by a finance-tuned language model.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8701" y="3545681"/>
            <a:ext cx="8026598" cy="9459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732907"/>
            <a:ext cx="2567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6826" y="3904357"/>
            <a:ext cx="2567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— no paid API keys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3509" y="3732907"/>
            <a:ext cx="2567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COVERAGE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3509" y="3904357"/>
            <a:ext cx="2567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NSE, BSE, and US tickers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30342" y="3732907"/>
            <a:ext cx="2567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IS MISSING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30342" y="3904357"/>
            <a:ext cx="25671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Shown as N/A — never estimated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7772400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financial software, one wrong number costs more than ten missing features.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12618" y="2558802"/>
            <a:ext cx="41187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count is visible.
</a:t>
            </a:r>
            <a:pPr algn="ctr" indent="0" marL="0">
              <a:lnSpc>
                <a:spcPts val="4500"/>
              </a:lnSpc>
              <a:buNone/>
            </a:pPr>
            <a:r>
              <a:rPr lang="en-US" sz="3000" i="1" dirty="0">
                <a:solidFill>
                  <a:srgbClr val="9693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errors are not.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7901889" cy="761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systematic audit found 17 real defects, ranked by severity.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58701" y="4472880"/>
            <a:ext cx="72541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00"/>
              </a:spcBef>
              <a:buNone/>
            </a:pPr>
            <a:r>
              <a:rPr lang="en-US" sz="10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traced to </a:t>
            </a:r>
            <a:pPr algn="l" indent="0" marL="0">
              <a:lnSpc>
                <a:spcPts val="1575"/>
              </a:lnSpc>
              <a:spcBef>
                <a:spcPts val="1000"/>
              </a:spcBef>
              <a:buNone/>
            </a:pPr>
            <a:r>
              <a:rPr lang="en-US" sz="105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root cause</a:t>
            </a:r>
            <a:pPr algn="l" indent="0" marL="0">
              <a:lnSpc>
                <a:spcPts val="1575"/>
              </a:lnSpc>
              <a:spcBef>
                <a:spcPts val="1000"/>
              </a:spcBef>
              <a:buNone/>
            </a:pPr>
            <a:r>
              <a:rPr lang="en-US" sz="10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fixed with the real formula, and re-verified against live data — not patched at the symptom.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8701" y="4877693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701" y="5009406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 · Source: docs/ROOT_CAUSE_ANALYSIS.md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58051" y="5009406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58701" y="1932980"/>
          <a:ext cx="8026301" cy="2412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7901889" cy="761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100x unit error made a safe company look financially distressed.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58701" y="2009180"/>
            <a:ext cx="3911650" cy="181570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7576" y="2272605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B34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IN THE 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7576" y="2532906"/>
            <a:ext cx="34005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Debt-to-Equity, Utique Enterprises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7576" y="2726531"/>
            <a:ext cx="340057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B34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7576" y="3409057"/>
            <a:ext cx="34005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“High Risk” — elevated leverage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73501" y="2009180"/>
            <a:ext cx="3911798" cy="181570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62376" y="2272605"/>
            <a:ext cx="3400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1F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CORRECTED &amp; VERIFIED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2376" y="2532906"/>
            <a:ext cx="3400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Debt-to-Equity, Utique Enterprises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2376" y="2726531"/>
            <a:ext cx="3400729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F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962376" y="3409057"/>
            <a:ext cx="3400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Screener.in’s published figure exactly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8701" y="4078784"/>
            <a:ext cx="8161020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Bef>
                <a:spcPts val="2000"/>
              </a:spcBef>
              <a:buNone/>
            </a:pPr>
            <a:r>
              <a:rPr lang="en-US" sz="10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the data field was already a percentage. The old code divided by 100 only when a number “looked too big” — a guess, not a rule — so small-but-correct values passed through unchanged and were misread as raw ratios.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 · Cross-checked against Screener.in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8031379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other ratios weren’t wrong — they were never calculated at all.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1965722"/>
            <a:ext cx="1873300" cy="7788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8701" y="1984772"/>
            <a:ext cx="1873300" cy="0"/>
          </a:xfrm>
          <a:prstGeom prst="line">
            <a:avLst/>
          </a:prstGeom>
          <a:noFill/>
          <a:ln w="38100">
            <a:solidFill>
              <a:srgbClr val="9262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7238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8701" y="2739777"/>
            <a:ext cx="187330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3463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1376" y="2181523"/>
            <a:ext cx="14769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Altman Z-Score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1376" y="2397323"/>
            <a:ext cx="14769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Bankruptcy-risk 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9701" y="1965722"/>
            <a:ext cx="1873448" cy="7788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09701" y="1984772"/>
            <a:ext cx="1873448" cy="0"/>
          </a:xfrm>
          <a:prstGeom prst="line">
            <a:avLst/>
          </a:prstGeom>
          <a:noFill/>
          <a:ln w="38100">
            <a:solidFill>
              <a:srgbClr val="9262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8387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9701" y="2739777"/>
            <a:ext cx="187344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4464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2377" y="2181523"/>
            <a:ext cx="1477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Capital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22377" y="2397323"/>
            <a:ext cx="14770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Capital-efficiency ratio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0850" y="1965722"/>
            <a:ext cx="1873300" cy="7788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0850" y="1984772"/>
            <a:ext cx="1873300" cy="0"/>
          </a:xfrm>
          <a:prstGeom prst="line">
            <a:avLst/>
          </a:prstGeom>
          <a:noFill/>
          <a:ln w="38100">
            <a:solidFill>
              <a:srgbClr val="9262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9388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0850" y="2739777"/>
            <a:ext cx="187330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5613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526" y="2181523"/>
            <a:ext cx="14769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Coverage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526" y="2397323"/>
            <a:ext cx="14769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Debt-servicing 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11851" y="1965722"/>
            <a:ext cx="1873448" cy="7788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11851" y="1984772"/>
            <a:ext cx="1873448" cy="0"/>
          </a:xfrm>
          <a:prstGeom prst="line">
            <a:avLst/>
          </a:prstGeom>
          <a:noFill/>
          <a:ln w="38100">
            <a:solidFill>
              <a:srgbClr val="9262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80537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851" y="2739777"/>
            <a:ext cx="187344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16613" y="1965722"/>
            <a:ext cx="0" cy="778818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4526" y="2181523"/>
            <a:ext cx="1477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24526" y="2397323"/>
            <a:ext cx="14770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cycle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8701" y="294769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0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was a hardcoded placeholder string — the identical output for every company in the same debt tier, regardless of its actual financials.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8701" y="3531840"/>
            <a:ext cx="8026598" cy="939701"/>
          </a:xfrm>
          <a:prstGeom prst="rect">
            <a:avLst/>
          </a:prstGeom>
          <a:solidFill>
            <a:srgbClr val="1B1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2602" y="3734991"/>
            <a:ext cx="76691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7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that returns a confident, wrong answer is more dangerous than one that returns no answer.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8031379" cy="761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finding was root-caused, fixed, and re-verified — not patched.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58701" y="2018705"/>
            <a:ext cx="1873300" cy="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2180630"/>
            <a:ext cx="17035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F55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701" y="2542580"/>
            <a:ext cx="17035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701" y="2758380"/>
            <a:ext cx="1703552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exact symptom against live data before touching any code.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9701" y="2018705"/>
            <a:ext cx="1873448" cy="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9701" y="2180630"/>
            <a:ext cx="17037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F55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9701" y="2542580"/>
            <a:ext cx="1703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9701" y="2758380"/>
            <a:ext cx="1703704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 to the one root cause — not the nearest place it happens to show up.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0850" y="2018705"/>
            <a:ext cx="1873300" cy="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0850" y="2180630"/>
            <a:ext cx="17035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F55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0850" y="2542580"/>
            <a:ext cx="17035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0850" y="2758380"/>
            <a:ext cx="1703552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guess with the real formula, sourced from the underlying data.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851" y="2018705"/>
            <a:ext cx="1873448" cy="0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851" y="2180630"/>
            <a:ext cx="17037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F55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11851" y="2542580"/>
            <a:ext cx="1703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11851" y="2758380"/>
            <a:ext cx="1703704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 across multiple live tickers and, where possible, an external source.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8701" y="3610868"/>
            <a:ext cx="8026598" cy="863501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127" y="3823543"/>
            <a:ext cx="109420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F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/ 17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148780" y="3871168"/>
            <a:ext cx="35692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fixed and verified against live data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48780" y="4080718"/>
            <a:ext cx="35692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before/after evidence for each one is documented and public.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8031379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rigor was applied to the design — and to the codebase itself.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1953518"/>
            <a:ext cx="3911650" cy="2691557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127" y="2191643"/>
            <a:ext cx="34524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discipline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127" y="2534543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6FAE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25128" y="2534543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6FA3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28130" y="2534543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A08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31131" y="252814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69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0881" y="251549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127" y="2870895"/>
            <a:ext cx="3452494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the interface from a generic glass-and-gradient look to a restrained editorial system: one accent color, hairline borders, no decorative motion.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73501" y="1953518"/>
            <a:ext cx="3911798" cy="2691557"/>
          </a:xfrm>
          <a:prstGeom prst="rect">
            <a:avLst/>
          </a:prstGeom>
          <a:solidFill>
            <a:srgbClr val="FFFFFF"/>
          </a:solidFill>
          <a:ln w="9525">
            <a:solidFill>
              <a:srgbClr val="E3E0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6927" y="2191643"/>
            <a:ext cx="34526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B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discipline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6927" y="2515493"/>
            <a:ext cx="1726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11,460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6927" y="2797969"/>
            <a:ext cx="1726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REMOVED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2515493"/>
            <a:ext cx="1726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797969"/>
            <a:ext cx="1726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DROPPED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6927" y="3058269"/>
            <a:ext cx="1726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6927" y="3340745"/>
            <a:ext cx="1726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SERVICES RETIRED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9400" y="3058269"/>
            <a:ext cx="17263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3340745"/>
            <a:ext cx="1726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6927" y="3753445"/>
            <a:ext cx="3452646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F4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audit removed an orphaned dashboard, an unused database layer, and dead auth middleware — then every page was re-tested to confirm nothing broke.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6730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17377"/>
            <a:ext cx="8031379" cy="38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this project demonstrates on the job.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FinResearch —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552129"/>
          <a:ext cx="8026301" cy="3048000"/>
        </p:xfrm>
        <a:graphic>
          <a:graphicData uri="http://schemas.openxmlformats.org/drawingml/2006/table">
            <a:tbl>
              <a:tblPr/>
              <a:tblGrid>
                <a:gridCol w="3692098"/>
                <a:gridCol w="433420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proves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 and fixed 17 production-accuracy defects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Won’t ship confidently-wrong numbers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Rebuilt DCF and ratio formulas from first principles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own a financial model end-to-end, not just call a library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Removed 11,460 lines of code with zero regressions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Says no to complexity, not just yes to features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Redesigned the interface into one coherent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operate as both engineer and product owner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 the audit as a public, numbered trail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Communicates technical judgment to non-technical stakeholders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07950"/>
            <a:ext cx="114300" cy="114300"/>
          </a:xfrm>
          <a:prstGeom prst="rect">
            <a:avLst/>
          </a:prstGeom>
          <a:solidFill>
            <a:srgbClr val="2F55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749201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5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993577"/>
            <a:ext cx="7254139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1B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running, then let’s talk.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8226" y="1773138"/>
            <a:ext cx="0" cy="349151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452" y="1773138"/>
            <a:ext cx="2198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5452" y="1969889"/>
            <a:ext cx="2198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F55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live demo URL 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01157" y="1773138"/>
            <a:ext cx="0" cy="349151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8382" y="1773138"/>
            <a:ext cx="2203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88382" y="1969889"/>
            <a:ext cx="220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F55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docs/ROOT_CAUSE_ANALYSIS.md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9445" y="1773138"/>
            <a:ext cx="0" cy="349151"/>
          </a:xfrm>
          <a:prstGeom prst="line">
            <a:avLst/>
          </a:prstGeom>
          <a:noFill/>
          <a:ln w="19050">
            <a:solidFill>
              <a:srgbClr val="2F55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6671" y="1773138"/>
            <a:ext cx="21985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26671" y="1969889"/>
            <a:ext cx="21985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F55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GitHub URL 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8701" y="2452390"/>
            <a:ext cx="8026598" cy="723900"/>
          </a:xfrm>
          <a:prstGeom prst="rect">
            <a:avLst/>
          </a:prstGeom>
          <a:solidFill>
            <a:srgbClr val="1B1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051" y="2680990"/>
            <a:ext cx="7617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7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I’d like to bring this same standard — audit, fix, verify, simplify — to your team.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8701" y="4649837"/>
            <a:ext cx="802659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701" y="4781550"/>
            <a:ext cx="80573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Name ] · morid648@gmail.com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58051" y="47815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FinResearch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FinResearch — Case Study</dc:title>
  <dc:subject>Accuracy audit, engineering response, and product redesign</dc:subject>
  <dc:creator>FinResearch</dc:creator>
  <cp:lastModifiedBy>FinResearch</cp:lastModifiedBy>
  <cp:revision>1</cp:revision>
  <dcterms:created xsi:type="dcterms:W3CDTF">2026-09-25T23:47:04Z</dcterms:created>
  <dcterms:modified xsi:type="dcterms:W3CDTF">2026-09-25T23:47:04Z</dcterms:modified>
</cp:coreProperties>
</file>